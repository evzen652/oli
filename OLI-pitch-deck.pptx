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502920"/>
            <a:ext cx="1005840" cy="411480"/>
          </a:xfrm>
          <a:prstGeom prst="roundRect">
            <a:avLst>
              <a:gd name="adj" fmla="val 22222"/>
            </a:avLst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50292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OLI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02920" y="1143000"/>
            <a:ext cx="47548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Adaptivní AI vzdělávání</a:t>
            </a:r>
            <a:endParaRPr lang="en-US" sz="3600" dirty="0"/>
          </a:p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 každé dítě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02920" y="269748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Diagnostika · Personalizace · Rodičovský přehled v reálném čase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3291840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To, co bylo dosud dostupné hlavně přes drahé individuální doučování,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přinášíme ve škálovatelném digitálním modelu.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45720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oli-edu.com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394960" y="320040"/>
            <a:ext cx="3429000" cy="4480560"/>
          </a:xfrm>
          <a:prstGeom prst="rect">
            <a:avLst/>
          </a:prstGeom>
          <a:solidFill>
            <a:srgbClr val="2D2456"/>
          </a:solidFill>
          <a:ln w="19050">
            <a:solidFill>
              <a:srgbClr val="4C1D9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94960" y="320040"/>
            <a:ext cx="3429000" cy="448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📸 Hero screenshot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oli-edu.com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371600" cy="292608"/>
          </a:xfrm>
          <a:prstGeom prst="roundRect">
            <a:avLst>
              <a:gd name="adj" fmla="val 25000"/>
            </a:avLst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32004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C3AED"/>
                </a:solidFill>
              </a:rPr>
              <a:t>PROBLÉM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5120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Současné vzdělávání je postavené na průměrném dítěti.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1508760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Takové ale neexistuje.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2057400"/>
            <a:ext cx="2834640" cy="2331720"/>
          </a:xfrm>
          <a:prstGeom prst="rect">
            <a:avLst/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2176272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Každé dítě: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2578608"/>
            <a:ext cx="2560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1E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se učí jiným tempem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1E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dělá jiné chyby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1E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potřebuje jiný přístup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337560" y="2057400"/>
            <a:ext cx="2834640" cy="2331720"/>
          </a:xfrm>
          <a:prstGeom prst="rect">
            <a:avLst/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474720" y="2176272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Dnešní realita: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474720" y="2578608"/>
            <a:ext cx="2560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1E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školy učí plošně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1E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rodiče netuší, kde dítě tápe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1E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doučování je drahé a náročné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4526280"/>
            <a:ext cx="5806440" cy="365760"/>
          </a:xfrm>
          <a:prstGeom prst="rect">
            <a:avLst/>
          </a:prstGeom>
          <a:solidFill>
            <a:srgbClr val="1E1B2E"/>
          </a:solidFill>
          <a:ln w="12700">
            <a:solidFill>
              <a:srgbClr val="1E1B2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4526280"/>
            <a:ext cx="5806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Personalizované vzdělávání zůstává pro většinu rodin nedostupné.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92240" y="320040"/>
            <a:ext cx="2331720" cy="4572000"/>
          </a:xfrm>
          <a:prstGeom prst="rect">
            <a:avLst/>
          </a:prstGeom>
          <a:solidFill>
            <a:srgbClr val="F8F7FF"/>
          </a:solidFill>
          <a:ln w="19050">
            <a:solidFill>
              <a:srgbClr val="E5E7EB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92240" y="320040"/>
            <a:ext cx="233172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📸 Rodičovský dashboard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188720" cy="292608"/>
          </a:xfrm>
          <a:prstGeom prst="roundRect">
            <a:avLst>
              <a:gd name="adj" fmla="val 25000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32004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A34A"/>
                </a:solidFill>
              </a:rPr>
              <a:t>ŘEŠENÍ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5394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OLI personalizuje vzdělávání v reálném čase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600200"/>
            <a:ext cx="347472" cy="347472"/>
          </a:xfrm>
          <a:prstGeom prst="ellipse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6002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A34A"/>
                </a:solidFill>
              </a:rPr>
              <a:t>✓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1618488"/>
            <a:ext cx="4846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průběžně diagnostikuje znalostní mezery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2258568"/>
            <a:ext cx="347472" cy="347472"/>
          </a:xfrm>
          <a:prstGeom prst="ellipse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22585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A34A"/>
                </a:solidFill>
              </a:rPr>
              <a:t>✓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2276856"/>
            <a:ext cx="4846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analyzuje opakující se chyby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65760" y="2916936"/>
            <a:ext cx="347472" cy="347472"/>
          </a:xfrm>
          <a:prstGeom prst="ellipse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29169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A34A"/>
                </a:solidFill>
              </a:rPr>
              <a:t>✓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22960" y="2935224"/>
            <a:ext cx="4846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přizpůsobuje vzdělávací cestu každého dítěte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65760" y="3575304"/>
            <a:ext cx="347472" cy="347472"/>
          </a:xfrm>
          <a:prstGeom prst="ellipse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5753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A34A"/>
                </a:solidFill>
              </a:rPr>
              <a:t>✓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22960" y="3593592"/>
            <a:ext cx="4846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poskytuje inteligentní nápovědu ve správný moment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65760" y="4297680"/>
            <a:ext cx="5303520" cy="56692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65760" y="4297680"/>
            <a:ext cx="5303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Každé dítě dostává vlastní vzdělávací cestu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podle svých skutečných potřeb.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989320" y="320040"/>
            <a:ext cx="2834640" cy="4572000"/>
          </a:xfrm>
          <a:prstGeom prst="rect">
            <a:avLst/>
          </a:prstGeom>
          <a:solidFill>
            <a:srgbClr val="F8F7FF"/>
          </a:solidFill>
          <a:ln w="19050">
            <a:solidFill>
              <a:srgbClr val="E5E7EB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989320" y="320040"/>
            <a:ext cx="283464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📸 Obrazovka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procvičování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2286000" cy="292608"/>
          </a:xfrm>
          <a:prstGeom prst="roundRect">
            <a:avLst>
              <a:gd name="adj" fmla="val 25000"/>
            </a:avLst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32004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C3AED"/>
                </a:solidFill>
              </a:rPr>
              <a:t>RODIČOVSKÁ VRSTVA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5029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Rodič není pasivní pozorovatel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536192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Propojený rodičovský účet umožňuje: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965960"/>
            <a:ext cx="50292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1965960"/>
            <a:ext cx="4754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 Sledovat výsledky dítěte v reálném čase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2560320"/>
            <a:ext cx="50292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2920" y="2560320"/>
            <a:ext cx="4754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 Vidět konkrétní slabá místa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3154680"/>
            <a:ext cx="50292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3154680"/>
            <a:ext cx="4754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🔍  Identifikovat opakující se chyby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3749040"/>
            <a:ext cx="50292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02920" y="3749040"/>
            <a:ext cx="4754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  Reagovat cíleným zadáváním vlastních úkolů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65760" y="443484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vytváří silné zapojení rodiče i dlouhodobou hodnotu produktu.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989320" y="320040"/>
            <a:ext cx="2834640" cy="4572000"/>
          </a:xfrm>
          <a:prstGeom prst="rect">
            <a:avLst/>
          </a:prstGeom>
          <a:solidFill>
            <a:srgbClr val="FFFFFF"/>
          </a:solidFill>
          <a:ln w="19050">
            <a:solidFill>
              <a:srgbClr val="E5E7EB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989320" y="320040"/>
            <a:ext cx="283464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📸 Parent dashboard —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Přehled dítěte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2103120" cy="292608"/>
          </a:xfrm>
          <a:prstGeom prst="roundRect">
            <a:avLst>
              <a:gd name="adj" fmla="val 25000"/>
            </a:avLst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32004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C3AED"/>
                </a:solidFill>
              </a:rPr>
              <a:t>DIFERENCIACE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Nejsme další AI chatbot.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508760"/>
            <a:ext cx="2606040" cy="841248"/>
          </a:xfrm>
          <a:prstGeom prst="rect">
            <a:avLst/>
          </a:prstGeom>
          <a:solidFill>
            <a:srgbClr val="EDE9FE"/>
          </a:solidFill>
          <a:ln w="12700">
            <a:solidFill>
              <a:srgbClr val="DDD6FE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75488" y="1508760"/>
            <a:ext cx="237744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21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🔬  Adaptivní diagnostika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154680" y="1508760"/>
            <a:ext cx="2606040" cy="841248"/>
          </a:xfrm>
          <a:prstGeom prst="rect">
            <a:avLst/>
          </a:prstGeom>
          <a:solidFill>
            <a:srgbClr val="EDE9FE"/>
          </a:solidFill>
          <a:ln w="12700">
            <a:solidFill>
              <a:srgbClr val="DDD6FE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64408" y="1508760"/>
            <a:ext cx="237744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21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🗺️  Personalizované vzdělávací cesty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2514600"/>
            <a:ext cx="2606040" cy="841248"/>
          </a:xfrm>
          <a:prstGeom prst="rect">
            <a:avLst/>
          </a:prstGeom>
          <a:solidFill>
            <a:srgbClr val="EDE9FE"/>
          </a:solidFill>
          <a:ln w="12700">
            <a:solidFill>
              <a:srgbClr val="DDD6FE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75488" y="2514600"/>
            <a:ext cx="237744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21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📚  Strukturovaný vzdělávací obsah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154680" y="2514600"/>
            <a:ext cx="2606040" cy="841248"/>
          </a:xfrm>
          <a:prstGeom prst="rect">
            <a:avLst/>
          </a:prstGeom>
          <a:solidFill>
            <a:srgbClr val="EDE9FE"/>
          </a:solidFill>
          <a:ln w="12700">
            <a:solidFill>
              <a:srgbClr val="DDD6FE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264408" y="2514600"/>
            <a:ext cx="237744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21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👨‍👩‍👧  Propojený rodičovský dashboard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3611880"/>
            <a:ext cx="5486400" cy="1234440"/>
          </a:xfrm>
          <a:prstGeom prst="rect">
            <a:avLst/>
          </a:prstGeom>
          <a:solidFill>
            <a:srgbClr val="1E1B2E"/>
          </a:solidFill>
          <a:ln w="12700">
            <a:solidFill>
              <a:srgbClr val="1E1B2E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02920" y="3611880"/>
            <a:ext cx="52120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Nase hodnota je diagnosticky a adaptacni engine,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ktery ridi vzdelavaci progres kazdeho ditete.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172200" y="1508760"/>
            <a:ext cx="2651760" cy="3337560"/>
          </a:xfrm>
          <a:prstGeom prst="rect">
            <a:avLst/>
          </a:prstGeom>
          <a:solidFill>
            <a:srgbClr val="F8F7FF"/>
          </a:solidFill>
          <a:ln w="19050">
            <a:solidFill>
              <a:srgbClr val="E5E7EB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172200" y="1508760"/>
            <a:ext cx="2651760" cy="3337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📸 Admin / backend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pohled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2194560" cy="292608"/>
          </a:xfrm>
          <a:prstGeom prst="roundRect">
            <a:avLst>
              <a:gd name="adj" fmla="val 25000"/>
            </a:avLst>
          </a:prstGeom>
          <a:solidFill>
            <a:srgbClr val="FED7AA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32004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A3412"/>
                </a:solidFill>
              </a:rPr>
              <a:t>BUSINESS MODEL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Škálovatelný digitální model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4114800" cy="77724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417320"/>
            <a:ext cx="4114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B2C předplatné pro rodiče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365760" y="2377440"/>
            <a:ext cx="12344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65760" y="2423160"/>
            <a:ext cx="1234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💰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11480" y="2880360"/>
            <a:ext cx="1143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Rodiče už dnes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E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investují do vzdělávání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783080" y="2377440"/>
            <a:ext cx="12344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783080" y="2423160"/>
            <a:ext cx="1234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🔄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828800" y="2880360"/>
            <a:ext cx="1143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Řešíme silný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E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opakovaný problém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00400" y="2377440"/>
            <a:ext cx="12344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200400" y="2423160"/>
            <a:ext cx="1234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📈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3246120" y="2880360"/>
            <a:ext cx="1143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Digitální model =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E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vysoká škálovatelnost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65760" y="3950208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Expanze: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463040" y="3950208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🇨🇿 Česko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834640" y="3950208"/>
            <a:ext cx="274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108960" y="3950208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🇸🇰 Slovensko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480560" y="3950208"/>
            <a:ext cx="274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754880" y="3950208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🇵🇱 Polsko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126480" y="3950208"/>
            <a:ext cx="274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400800" y="3950208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🌍 Střední Evropa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65760" y="443484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Stejný produkt. Nové trhy.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663440" y="1417320"/>
            <a:ext cx="416052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800600" y="153619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Proč to funguje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800600" y="1965960"/>
            <a:ext cx="3840480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1000"/>
              </a:spcAft>
              <a:buNone/>
            </a:pPr>
            <a:r>
              <a:rPr lang="en-US" sz="1200" dirty="0">
                <a:solidFill>
                  <a:srgbClr val="1E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Rodiče mají silnou motivaci investovat</a:t>
            </a:r>
            <a:endParaRPr lang="en-US" sz="12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200" dirty="0">
                <a:solidFill>
                  <a:srgbClr val="1E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Opakovaná potřeba → vysoký retention</a:t>
            </a:r>
            <a:endParaRPr lang="en-US" sz="12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200" dirty="0">
                <a:solidFill>
                  <a:srgbClr val="1E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Nízké marginální náklady na růst</a:t>
            </a:r>
            <a:endParaRPr lang="en-US" sz="12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200" dirty="0">
                <a:solidFill>
                  <a:srgbClr val="1E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Lokalizace kurikula = vstup na nový trh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0"/>
          </a:xfrm>
          <a:prstGeom prst="rect">
            <a:avLst/>
          </a:prstGeom>
          <a:solidFill>
            <a:srgbClr val="1E1B2E"/>
          </a:solidFill>
          <a:ln w="12700">
            <a:solidFill>
              <a:srgbClr val="1E1B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Tým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1600200"/>
            <a:ext cx="2606040" cy="3200400"/>
          </a:xfrm>
          <a:prstGeom prst="rect">
            <a:avLst/>
          </a:prstGeom>
          <a:solidFill>
            <a:srgbClr val="F8F7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600200"/>
            <a:ext cx="2606040" cy="4114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16152" y="1828800"/>
            <a:ext cx="914400" cy="914400"/>
          </a:xfrm>
          <a:prstGeom prst="ellipse">
            <a:avLst/>
          </a:prstGeom>
          <a:solidFill>
            <a:srgbClr val="EDE9FE"/>
          </a:solidFill>
          <a:ln w="25400">
            <a:solidFill>
              <a:srgbClr val="7C3A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16152" y="18288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7C3AED"/>
                </a:solidFill>
              </a:rPr>
              <a:t>E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457200" y="2852928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Evžen Weigl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31520" y="3273552"/>
            <a:ext cx="1874520" cy="256032"/>
          </a:xfrm>
          <a:prstGeom prst="roundRect">
            <a:avLst>
              <a:gd name="adj" fmla="val 25000"/>
            </a:avLst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3273552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C3AED"/>
                </a:solidFill>
              </a:rPr>
              <a:t>Zakladatel &amp; CEO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57200" y="3657600"/>
            <a:ext cx="2423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Produktová vize, strategie,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development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řízení produktu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0" y="1600200"/>
            <a:ext cx="2606040" cy="3200400"/>
          </a:xfrm>
          <a:prstGeom prst="rect">
            <a:avLst/>
          </a:prstGeom>
          <a:solidFill>
            <a:srgbClr val="F8F7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0" y="1600200"/>
            <a:ext cx="2606040" cy="4114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050792" y="1828800"/>
            <a:ext cx="914400" cy="914400"/>
          </a:xfrm>
          <a:prstGeom prst="ellipse">
            <a:avLst/>
          </a:prstGeom>
          <a:solidFill>
            <a:srgbClr val="E0F7FA"/>
          </a:solidFill>
          <a:ln w="25400">
            <a:solidFill>
              <a:srgbClr val="0891B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050792" y="18288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891B2"/>
                </a:solidFill>
              </a:rPr>
              <a:t>Z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3291840" y="2852928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Zuzka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3566160" y="3273552"/>
            <a:ext cx="1874520" cy="256032"/>
          </a:xfrm>
          <a:prstGeom prst="roundRect">
            <a:avLst>
              <a:gd name="adj" fmla="val 25000"/>
            </a:avLst>
          </a:prstGeom>
          <a:solidFill>
            <a:srgbClr val="E0F7FA"/>
          </a:solidFill>
          <a:ln w="12700">
            <a:solidFill>
              <a:srgbClr val="E0F7F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566160" y="3273552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891B2"/>
                </a:solidFill>
              </a:rPr>
              <a:t>Metodika vzdělávání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291840" y="3657600"/>
            <a:ext cx="2423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Pedagogická metodika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obsahová správnost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035040" y="1600200"/>
            <a:ext cx="2606040" cy="3200400"/>
          </a:xfrm>
          <a:prstGeom prst="rect">
            <a:avLst/>
          </a:prstGeom>
          <a:solidFill>
            <a:srgbClr val="F8F7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035040" y="1600200"/>
            <a:ext cx="2606040" cy="41148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885432" y="1828800"/>
            <a:ext cx="914400" cy="914400"/>
          </a:xfrm>
          <a:prstGeom prst="ellipse">
            <a:avLst/>
          </a:prstGeom>
          <a:solidFill>
            <a:srgbClr val="DCFCE7"/>
          </a:solidFill>
          <a:ln w="25400">
            <a:solidFill>
              <a:srgbClr val="16A34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85432" y="18288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6A34A"/>
                </a:solidFill>
              </a:rPr>
              <a:t>M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6126480" y="2852928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Monika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6400800" y="3273552"/>
            <a:ext cx="1874520" cy="256032"/>
          </a:xfrm>
          <a:prstGeom prst="roundRect">
            <a:avLst>
              <a:gd name="adj" fmla="val 25000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0" y="3273552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A34A"/>
                </a:solidFill>
              </a:rPr>
              <a:t>Metodika vzdělávání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126480" y="3657600"/>
            <a:ext cx="2423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Didaktický design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vzdělávací zkušenost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2926080" cy="320040"/>
          </a:xfrm>
          <a:prstGeom prst="roundRect">
            <a:avLst>
              <a:gd name="adj" fmla="val 22857"/>
            </a:avLst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3200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INVESTIČNÍ PŘÍLEŽITOST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Hledáme seed investici 1–2 mil. Kč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536192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Kapitál použijeme na: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938528"/>
            <a:ext cx="1572768" cy="1508760"/>
          </a:xfrm>
          <a:prstGeom prst="rect">
            <a:avLst/>
          </a:prstGeom>
          <a:solidFill>
            <a:srgbClr val="2D2456"/>
          </a:solidFill>
          <a:ln w="12700">
            <a:solidFill>
              <a:srgbClr val="4C1D95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65760" y="2029968"/>
            <a:ext cx="1572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🤖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38912" y="2578608"/>
            <a:ext cx="142646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Rozvoj AI diagnostiky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075688" y="1938528"/>
            <a:ext cx="1572768" cy="1508760"/>
          </a:xfrm>
          <a:prstGeom prst="rect">
            <a:avLst/>
          </a:prstGeom>
          <a:solidFill>
            <a:srgbClr val="2D2456"/>
          </a:solidFill>
          <a:ln w="12700">
            <a:solidFill>
              <a:srgbClr val="4C1D95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075688" y="2029968"/>
            <a:ext cx="1572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📚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148840" y="2578608"/>
            <a:ext cx="142646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Rozšíření vzdělávacího obsahu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785616" y="1938528"/>
            <a:ext cx="1572768" cy="1508760"/>
          </a:xfrm>
          <a:prstGeom prst="rect">
            <a:avLst/>
          </a:prstGeom>
          <a:solidFill>
            <a:srgbClr val="2D2456"/>
          </a:solidFill>
          <a:ln w="12700">
            <a:solidFill>
              <a:srgbClr val="4C1D95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785616" y="2029968"/>
            <a:ext cx="1572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👥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858768" y="2578608"/>
            <a:ext cx="142646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Akvizice prvních platících zákazníků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495544" y="1938528"/>
            <a:ext cx="1572768" cy="1508760"/>
          </a:xfrm>
          <a:prstGeom prst="rect">
            <a:avLst/>
          </a:prstGeom>
          <a:solidFill>
            <a:srgbClr val="2D2456"/>
          </a:solidFill>
          <a:ln w="12700">
            <a:solidFill>
              <a:srgbClr val="4C1D95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95544" y="2029968"/>
            <a:ext cx="1572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5568696" y="2578608"/>
            <a:ext cx="142646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Validace růstového modelu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205472" y="1938528"/>
            <a:ext cx="1572768" cy="1508760"/>
          </a:xfrm>
          <a:prstGeom prst="rect">
            <a:avLst/>
          </a:prstGeom>
          <a:solidFill>
            <a:srgbClr val="2D2456"/>
          </a:solidFill>
          <a:ln w="12700">
            <a:solidFill>
              <a:srgbClr val="4C1D95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205472" y="2029968"/>
            <a:ext cx="1572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🌍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7278624" y="2578608"/>
            <a:ext cx="142646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Příprava expanze na další trhy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3639312"/>
            <a:ext cx="8412480" cy="86868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3639312"/>
            <a:ext cx="8138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Naší vizí je zpřístupnit skutečně individualizované vzdělávání každému dítěti.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365760" y="466344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Evžen Weigl  |  oli-edu.com  |  evzen.weigl@gmail.com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OLI — Adaptivní AI vzdělávání</dc:title>
  <dc:subject>PptxGenJS Presentation</dc:subject>
  <dc:creator>Evžen Weigl</dc:creator>
  <cp:lastModifiedBy>Evžen Weigl</cp:lastModifiedBy>
  <cp:revision>1</cp:revision>
  <dcterms:created xsi:type="dcterms:W3CDTF">2026-05-15T21:50:02Z</dcterms:created>
  <dcterms:modified xsi:type="dcterms:W3CDTF">2026-05-15T21:50:02Z</dcterms:modified>
</cp:coreProperties>
</file>